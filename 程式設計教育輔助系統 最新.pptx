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JetBrains Mono"/>
      <p:bold r:id="rId22"/>
    </p:embeddedFont>
    <p:embeddedFont>
      <p:font typeface="Noto Sans TC" panose="020B0200000000000000" pitchFamily="34" charset="-120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ED"/>
    <a:srgbClr val="3BA89E"/>
    <a:srgbClr val="BEB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0C352F-8775-4C8C-9698-8184BB8A48DB}" v="12" dt="2026-10-20T16:13:49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882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光儒 沈" userId="3a869383aeeb1b9f" providerId="LiveId" clId="{94525ED9-4627-4FAF-8D7C-789011610CBA}"/>
    <pc:docChg chg="undo redo custSel modSld">
      <pc:chgData name="光儒 沈" userId="3a869383aeeb1b9f" providerId="LiveId" clId="{94525ED9-4627-4FAF-8D7C-789011610CBA}" dt="2026-10-20T16:18:05.678" v="402" actId="1076"/>
      <pc:docMkLst>
        <pc:docMk/>
      </pc:docMkLst>
      <pc:sldChg chg="modSp mod">
        <pc:chgData name="光儒 沈" userId="3a869383aeeb1b9f" providerId="LiveId" clId="{94525ED9-4627-4FAF-8D7C-789011610CBA}" dt="2026-10-20T16:15:21.522" v="381" actId="1038"/>
        <pc:sldMkLst>
          <pc:docMk/>
          <pc:sldMk cId="0" sldId="260"/>
        </pc:sldMkLst>
        <pc:spChg chg="mod">
          <ac:chgData name="光儒 沈" userId="3a869383aeeb1b9f" providerId="LiveId" clId="{94525ED9-4627-4FAF-8D7C-789011610CBA}" dt="2026-10-20T16:15:21.522" v="381" actId="1038"/>
          <ac:spMkLst>
            <pc:docMk/>
            <pc:sldMk cId="0" sldId="260"/>
            <ac:spMk id="2" creationId="{00000000-0000-0000-0000-000000000000}"/>
          </ac:spMkLst>
        </pc:spChg>
        <pc:graphicFrameChg chg="mod modGraphic">
          <ac:chgData name="光儒 沈" userId="3a869383aeeb1b9f" providerId="LiveId" clId="{94525ED9-4627-4FAF-8D7C-789011610CBA}" dt="2026-10-20T16:15:21.522" v="381" actId="1038"/>
          <ac:graphicFrameMkLst>
            <pc:docMk/>
            <pc:sldMk cId="0" sldId="260"/>
            <ac:graphicFrameMk id="3" creationId="{00000000-0000-0000-0000-000000000000}"/>
          </ac:graphicFrameMkLst>
        </pc:graphicFrameChg>
      </pc:sldChg>
      <pc:sldChg chg="addSp delSp modSp mod">
        <pc:chgData name="光儒 沈" userId="3a869383aeeb1b9f" providerId="LiveId" clId="{94525ED9-4627-4FAF-8D7C-789011610CBA}" dt="2026-10-20T16:18:05.678" v="402" actId="1076"/>
        <pc:sldMkLst>
          <pc:docMk/>
          <pc:sldMk cId="0" sldId="265"/>
        </pc:sldMkLst>
        <pc:spChg chg="add del mod">
          <ac:chgData name="光儒 沈" userId="3a869383aeeb1b9f" providerId="LiveId" clId="{94525ED9-4627-4FAF-8D7C-789011610CBA}" dt="2026-10-20T16:16:48.363" v="389" actId="478"/>
          <ac:spMkLst>
            <pc:docMk/>
            <pc:sldMk cId="0" sldId="265"/>
            <ac:spMk id="2" creationId="{24DA7ABB-00CB-2FEC-A10C-F27CF32ADE8F}"/>
          </ac:spMkLst>
        </pc:spChg>
        <pc:spChg chg="add mod">
          <ac:chgData name="光儒 沈" userId="3a869383aeeb1b9f" providerId="LiveId" clId="{94525ED9-4627-4FAF-8D7C-789011610CBA}" dt="2026-10-20T16:17:20.993" v="395" actId="207"/>
          <ac:spMkLst>
            <pc:docMk/>
            <pc:sldMk cId="0" sldId="265"/>
            <ac:spMk id="4" creationId="{D9DDB100-7936-ABA5-A60F-C46FFE2F18C6}"/>
          </ac:spMkLst>
        </pc:spChg>
        <pc:picChg chg="add mod modCrop">
          <ac:chgData name="光儒 沈" userId="3a869383aeeb1b9f" providerId="LiveId" clId="{94525ED9-4627-4FAF-8D7C-789011610CBA}" dt="2026-10-20T16:18:05.678" v="402" actId="1076"/>
          <ac:picMkLst>
            <pc:docMk/>
            <pc:sldMk cId="0" sldId="265"/>
            <ac:picMk id="6" creationId="{1CC89882-8625-3B7E-3B49-156325A12633}"/>
          </ac:picMkLst>
        </pc:picChg>
      </pc:sldChg>
      <pc:sldChg chg="delSp modSp mod">
        <pc:chgData name="光儒 沈" userId="3a869383aeeb1b9f" providerId="LiveId" clId="{94525ED9-4627-4FAF-8D7C-789011610CBA}" dt="2026-10-20T16:00:55.184" v="170" actId="1076"/>
        <pc:sldMkLst>
          <pc:docMk/>
          <pc:sldMk cId="0" sldId="267"/>
        </pc:sldMkLst>
        <pc:spChg chg="mod">
          <ac:chgData name="光儒 沈" userId="3a869383aeeb1b9f" providerId="LiveId" clId="{94525ED9-4627-4FAF-8D7C-789011610CBA}" dt="2026-10-20T16:00:52.649" v="168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0:55.184" v="170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0:29.944" v="143" actId="20577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光儒 沈" userId="3a869383aeeb1b9f" providerId="LiveId" clId="{94525ED9-4627-4FAF-8D7C-789011610CBA}" dt="2026-10-20T16:00:20.690" v="141" actId="478"/>
          <ac:spMkLst>
            <pc:docMk/>
            <pc:sldMk cId="0" sldId="267"/>
            <ac:spMk id="11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0:42.332" v="166" actId="103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光儒 沈" userId="3a869383aeeb1b9f" providerId="LiveId" clId="{94525ED9-4627-4FAF-8D7C-789011610CBA}" dt="2026-10-20T15:59:51.552" v="139" actId="103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光儒 沈" userId="3a869383aeeb1b9f" providerId="LiveId" clId="{94525ED9-4627-4FAF-8D7C-789011610CBA}" dt="2026-10-20T15:59:51.552" v="139" actId="1036"/>
          <ac:spMkLst>
            <pc:docMk/>
            <pc:sldMk cId="0" sldId="267"/>
            <ac:spMk id="16" creationId="{00000000-0000-0000-0000-000000000000}"/>
          </ac:spMkLst>
        </pc:spChg>
      </pc:sldChg>
      <pc:sldChg chg="addSp delSp modSp mod">
        <pc:chgData name="光儒 沈" userId="3a869383aeeb1b9f" providerId="LiveId" clId="{94525ED9-4627-4FAF-8D7C-789011610CBA}" dt="2026-10-20T16:09:40.555" v="253" actId="1076"/>
        <pc:sldMkLst>
          <pc:docMk/>
          <pc:sldMk cId="0" sldId="268"/>
        </pc:sldMkLst>
        <pc:spChg chg="mod">
          <ac:chgData name="光儒 沈" userId="3a869383aeeb1b9f" providerId="LiveId" clId="{94525ED9-4627-4FAF-8D7C-789011610CBA}" dt="2026-10-20T16:09:34.794" v="252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光儒 沈" userId="3a869383aeeb1b9f" providerId="LiveId" clId="{94525ED9-4627-4FAF-8D7C-789011610CBA}" dt="2026-10-20T15:55:24.247" v="109" actId="1035"/>
          <ac:spMkLst>
            <pc:docMk/>
            <pc:sldMk cId="0" sldId="268"/>
            <ac:spMk id="5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7:15.052" v="190" actId="20577"/>
          <ac:spMkLst>
            <pc:docMk/>
            <pc:sldMk cId="0" sldId="268"/>
            <ac:spMk id="6" creationId="{00000000-0000-0000-0000-000000000000}"/>
          </ac:spMkLst>
        </pc:spChg>
        <pc:spChg chg="del">
          <ac:chgData name="光儒 沈" userId="3a869383aeeb1b9f" providerId="LiveId" clId="{94525ED9-4627-4FAF-8D7C-789011610CBA}" dt="2026-10-20T15:54:45.796" v="54" actId="478"/>
          <ac:spMkLst>
            <pc:docMk/>
            <pc:sldMk cId="0" sldId="268"/>
            <ac:spMk id="7" creationId="{00000000-0000-0000-0000-000000000000}"/>
          </ac:spMkLst>
        </pc:spChg>
        <pc:spChg chg="add del">
          <ac:chgData name="光儒 沈" userId="3a869383aeeb1b9f" providerId="LiveId" clId="{94525ED9-4627-4FAF-8D7C-789011610CBA}" dt="2026-10-20T15:54:44.398" v="53" actId="478"/>
          <ac:spMkLst>
            <pc:docMk/>
            <pc:sldMk cId="0" sldId="268"/>
            <ac:spMk id="8" creationId="{00000000-0000-0000-0000-000000000000}"/>
          </ac:spMkLst>
        </pc:spChg>
        <pc:spChg chg="del mod">
          <ac:chgData name="光儒 沈" userId="3a869383aeeb1b9f" providerId="LiveId" clId="{94525ED9-4627-4FAF-8D7C-789011610CBA}" dt="2026-10-20T15:58:50.731" v="124" actId="478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光儒 沈" userId="3a869383aeeb1b9f" providerId="LiveId" clId="{94525ED9-4627-4FAF-8D7C-789011610CBA}" dt="2026-10-20T15:58:46.367" v="123" actId="478"/>
          <ac:spMkLst>
            <pc:docMk/>
            <pc:sldMk cId="0" sldId="268"/>
            <ac:spMk id="10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9:40.555" v="253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光儒 沈" userId="3a869383aeeb1b9f" providerId="LiveId" clId="{94525ED9-4627-4FAF-8D7C-789011610CBA}" dt="2026-10-20T16:05:30.930" v="187" actId="1076"/>
          <ac:spMkLst>
            <pc:docMk/>
            <pc:sldMk cId="0" sldId="268"/>
            <ac:spMk id="13" creationId="{00000000-0000-0000-0000-000000000000}"/>
          </ac:spMkLst>
        </pc:spChg>
        <pc:spChg chg="del mod">
          <ac:chgData name="光儒 沈" userId="3a869383aeeb1b9f" providerId="LiveId" clId="{94525ED9-4627-4FAF-8D7C-789011610CBA}" dt="2026-10-20T16:05:26.338" v="186" actId="21"/>
          <ac:spMkLst>
            <pc:docMk/>
            <pc:sldMk cId="0" sldId="268"/>
            <ac:spMk id="14" creationId="{00000000-0000-0000-0000-000000000000}"/>
          </ac:spMkLst>
        </pc:spChg>
        <pc:spChg chg="add del mod">
          <ac:chgData name="光儒 沈" userId="3a869383aeeb1b9f" providerId="LiveId" clId="{94525ED9-4627-4FAF-8D7C-789011610CBA}" dt="2026-10-20T15:50:32.214" v="4"/>
          <ac:spMkLst>
            <pc:docMk/>
            <pc:sldMk cId="0" sldId="268"/>
            <ac:spMk id="16" creationId="{B530B006-3277-DFE1-DAAE-30619982BAC2}"/>
          </ac:spMkLst>
        </pc:spChg>
        <pc:spChg chg="add del mod">
          <ac:chgData name="光儒 沈" userId="3a869383aeeb1b9f" providerId="LiveId" clId="{94525ED9-4627-4FAF-8D7C-789011610CBA}" dt="2026-10-20T15:51:38.124" v="44" actId="22"/>
          <ac:spMkLst>
            <pc:docMk/>
            <pc:sldMk cId="0" sldId="268"/>
            <ac:spMk id="18" creationId="{75034DDA-A756-7586-87F7-77A0DBDBC216}"/>
          </ac:spMkLst>
        </pc:spChg>
        <pc:spChg chg="add mod">
          <ac:chgData name="光儒 沈" userId="3a869383aeeb1b9f" providerId="LiveId" clId="{94525ED9-4627-4FAF-8D7C-789011610CBA}" dt="2026-10-20T15:55:24.247" v="109" actId="1035"/>
          <ac:spMkLst>
            <pc:docMk/>
            <pc:sldMk cId="0" sldId="268"/>
            <ac:spMk id="20" creationId="{492949F3-E53A-C4C8-6430-C8937A84707A}"/>
          </ac:spMkLst>
        </pc:spChg>
        <pc:spChg chg="add del mod">
          <ac:chgData name="光儒 沈" userId="3a869383aeeb1b9f" providerId="LiveId" clId="{94525ED9-4627-4FAF-8D7C-789011610CBA}" dt="2026-10-20T16:04:01.779" v="174" actId="22"/>
          <ac:spMkLst>
            <pc:docMk/>
            <pc:sldMk cId="0" sldId="268"/>
            <ac:spMk id="22" creationId="{EC21DDA0-38A3-9110-5130-14AB2CD13EB0}"/>
          </ac:spMkLst>
        </pc:spChg>
        <pc:spChg chg="add del">
          <ac:chgData name="光儒 沈" userId="3a869383aeeb1b9f" providerId="LiveId" clId="{94525ED9-4627-4FAF-8D7C-789011610CBA}" dt="2026-10-20T16:04:06.765" v="176" actId="22"/>
          <ac:spMkLst>
            <pc:docMk/>
            <pc:sldMk cId="0" sldId="268"/>
            <ac:spMk id="24" creationId="{673EC59D-61FD-6262-CBC2-B813B81C1B67}"/>
          </ac:spMkLst>
        </pc:spChg>
        <pc:spChg chg="add mod">
          <ac:chgData name="光儒 沈" userId="3a869383aeeb1b9f" providerId="LiveId" clId="{94525ED9-4627-4FAF-8D7C-789011610CBA}" dt="2026-10-20T16:09:31.912" v="251" actId="14100"/>
          <ac:spMkLst>
            <pc:docMk/>
            <pc:sldMk cId="0" sldId="268"/>
            <ac:spMk id="26" creationId="{2EEC90E8-B515-761E-A1C8-39D1597D9A21}"/>
          </ac:spMkLst>
        </pc:spChg>
        <pc:spChg chg="add mod">
          <ac:chgData name="光儒 沈" userId="3a869383aeeb1b9f" providerId="LiveId" clId="{94525ED9-4627-4FAF-8D7C-789011610CBA}" dt="2026-10-20T16:05:42.602" v="189" actId="1076"/>
          <ac:spMkLst>
            <pc:docMk/>
            <pc:sldMk cId="0" sldId="268"/>
            <ac:spMk id="28" creationId="{7B405433-2EAB-F768-FE63-ADCE93F50D19}"/>
          </ac:spMkLst>
        </pc:spChg>
        <pc:spChg chg="add del">
          <ac:chgData name="光儒 沈" userId="3a869383aeeb1b9f" providerId="LiveId" clId="{94525ED9-4627-4FAF-8D7C-789011610CBA}" dt="2026-10-20T16:07:47.140" v="193" actId="22"/>
          <ac:spMkLst>
            <pc:docMk/>
            <pc:sldMk cId="0" sldId="268"/>
            <ac:spMk id="30" creationId="{107117A8-109D-11EC-57B3-C570FD1E83F9}"/>
          </ac:spMkLst>
        </pc:spChg>
        <pc:spChg chg="add mod">
          <ac:chgData name="光儒 沈" userId="3a869383aeeb1b9f" providerId="LiveId" clId="{94525ED9-4627-4FAF-8D7C-789011610CBA}" dt="2026-10-20T16:08:37.446" v="212" actId="403"/>
          <ac:spMkLst>
            <pc:docMk/>
            <pc:sldMk cId="0" sldId="268"/>
            <ac:spMk id="32" creationId="{A03D0438-A85D-E3CE-AD33-AD87306A4E16}"/>
          </ac:spMkLst>
        </pc:spChg>
      </pc:sldChg>
      <pc:sldChg chg="addSp modSp mod">
        <pc:chgData name="光儒 沈" userId="3a869383aeeb1b9f" providerId="LiveId" clId="{94525ED9-4627-4FAF-8D7C-789011610CBA}" dt="2026-10-20T16:13:49.728" v="328"/>
        <pc:sldMkLst>
          <pc:docMk/>
          <pc:sldMk cId="0" sldId="269"/>
        </pc:sldMkLst>
        <pc:spChg chg="add mod">
          <ac:chgData name="光儒 沈" userId="3a869383aeeb1b9f" providerId="LiveId" clId="{94525ED9-4627-4FAF-8D7C-789011610CBA}" dt="2026-10-20T16:12:50.704" v="327" actId="1076"/>
          <ac:spMkLst>
            <pc:docMk/>
            <pc:sldMk cId="0" sldId="269"/>
            <ac:spMk id="10" creationId="{EBED15CF-E2F2-E42E-4FFC-175229BA64E1}"/>
          </ac:spMkLst>
        </pc:spChg>
        <pc:picChg chg="add mod">
          <ac:chgData name="光儒 沈" userId="3a869383aeeb1b9f" providerId="LiveId" clId="{94525ED9-4627-4FAF-8D7C-789011610CBA}" dt="2026-10-20T16:13:49.728" v="328"/>
          <ac:picMkLst>
            <pc:docMk/>
            <pc:sldMk cId="0" sldId="269"/>
            <ac:picMk id="8" creationId="{D64ECF73-B4C8-E112-E56D-EBCF698EB4B2}"/>
          </ac:picMkLst>
        </pc:picChg>
      </pc:sldChg>
      <pc:sldChg chg="modSp mod">
        <pc:chgData name="光儒 沈" userId="3a869383aeeb1b9f" providerId="LiveId" clId="{94525ED9-4627-4FAF-8D7C-789011610CBA}" dt="2026-10-20T16:14:06.637" v="332" actId="14100"/>
        <pc:sldMkLst>
          <pc:docMk/>
          <pc:sldMk cId="0" sldId="270"/>
        </pc:sldMkLst>
        <pc:spChg chg="mod">
          <ac:chgData name="光儒 沈" userId="3a869383aeeb1b9f" providerId="LiveId" clId="{94525ED9-4627-4FAF-8D7C-789011610CBA}" dt="2026-10-20T16:13:58.181" v="329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光儒 沈" userId="3a869383aeeb1b9f" providerId="LiveId" clId="{94525ED9-4627-4FAF-8D7C-789011610CBA}" dt="2026-10-20T16:14:00.642" v="330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光儒 沈" userId="3a869383aeeb1b9f" providerId="LiveId" clId="{94525ED9-4627-4FAF-8D7C-789011610CBA}" dt="2026-10-20T16:14:03.505" v="331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光儒 沈" userId="3a869383aeeb1b9f" providerId="LiveId" clId="{94525ED9-4627-4FAF-8D7C-789011610CBA}" dt="2026-10-20T16:14:06.637" v="332" actId="14100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GUANG-RU/Gemini-AI-Teaching-Assistant.git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E435-7BFA-4A44-BBA9-3C69B2C48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EE55E5-1D1A-4FD4-9D35-09FD27CAD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39719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68403-2370-40BE-B698-900CFB4FF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E0DBEE2-FB9E-4C9B-BEA4-29270BBD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2" y="0"/>
            <a:ext cx="12338594" cy="69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3479750" cy="2105025"/>
          </a:xfrm>
          <a:prstGeom prst="roundRect">
            <a:avLst>
              <a:gd name="adj" fmla="val 7239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847975"/>
            <a:ext cx="3479750" cy="2105025"/>
          </a:xfrm>
          <a:prstGeom prst="roundRect">
            <a:avLst>
              <a:gd name="adj" fmla="val 7239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847975"/>
            <a:ext cx="3479750" cy="2105025"/>
          </a:xfrm>
          <a:prstGeom prst="roundRect">
            <a:avLst>
              <a:gd name="adj" fmla="val 7239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9087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1908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19087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00" y="3343275"/>
            <a:ext cx="17784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451" y="3343275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901" y="3343275"/>
            <a:ext cx="177849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系統總覽與可行性評估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三大核心功能與落地評估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14775"/>
            <a:ext cx="1000274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FFFFFF"/>
                </a:solidFill>
                <a:latin typeface="Noto Sans TC"/>
              </a:rPr>
              <a:t>邏輯解釋</a:t>
            </a:r>
            <a:endParaRPr sz="1950" b="1" i="0" u="none" dirty="0">
              <a:solidFill>
                <a:srgbClr val="FFFFFF"/>
              </a:solidFill>
              <a:latin typeface="Noto Sans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6300" y="4362450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0FDFA"/>
                </a:solidFill>
                <a:latin typeface="Noto Sans TC"/>
              </a:rPr>
              <a:t>生活化比喻拆解核心語法邏輯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914775"/>
            <a:ext cx="1000274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F8FAFC"/>
                </a:solidFill>
                <a:latin typeface="Noto Sans TC"/>
              </a:rPr>
              <a:t>錯誤更正</a:t>
            </a:r>
            <a:endParaRPr sz="1950" b="1" i="0" u="none" dirty="0">
              <a:solidFill>
                <a:srgbClr val="F8FAFC"/>
              </a:solidFill>
              <a:latin typeface="Noto Sans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22750" y="4362450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Noto Sans TC"/>
              </a:rPr>
              <a:t>提問引導除錯絕不直接給答案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200" y="3914775"/>
            <a:ext cx="1000274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FFFFFF"/>
                </a:solidFill>
                <a:latin typeface="Noto Sans TC"/>
              </a:rPr>
              <a:t>題型練習</a:t>
            </a:r>
            <a:endParaRPr sz="1950" b="1" i="0" u="none" dirty="0">
              <a:solidFill>
                <a:srgbClr val="FFFFFF"/>
              </a:solidFill>
              <a:latin typeface="Noto Sans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9200" y="4362450"/>
            <a:ext cx="3682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0F9FF"/>
                </a:solidFill>
                <a:latin typeface="Noto Sans TC"/>
              </a:rPr>
              <a:t>動態生成相似難度情境測驗題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4792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3209925"/>
            <a:ext cx="11430000" cy="723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0F172A"/>
                </a:solidFill>
                <a:latin typeface="Noto Sans TC"/>
              </a:rPr>
              <a:t>與 AI 協作之提示詞探討過程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24325"/>
            <a:ext cx="10239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Noto Sans TC"/>
              </a:rPr>
              <a:t>完整還原向 AI 提問之原始提示詞、可行性評估、三大 System Prompt 與雙工具整合策略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4792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oto Sans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624137"/>
            <a:ext cx="11239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D9488"/>
                </a:solidFill>
                <a:latin typeface="Noto Sans TC"/>
              </a:rPr>
              <a:t>第一部分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57462"/>
            <a:ext cx="5763517" cy="2686050"/>
          </a:xfrm>
          <a:prstGeom prst="roundRect">
            <a:avLst>
              <a:gd name="adj" fmla="val 56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77917" y="2643187"/>
            <a:ext cx="4904482" cy="251460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提示詞探討起點：我們如何向 AI 提問？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原始提問內容（前半段）與 AI 給予的核心定位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4162"/>
            <a:ext cx="644239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# 我們向 AI 提出的原始 Prompt 全文：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9437"/>
            <a:ext cx="644239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E2E8F0"/>
                </a:solidFill>
                <a:latin typeface="JetBrains Mono"/>
              </a:rPr>
              <a:t>程式設計教育輔助系統：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4712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1. 解釋功能：解釋各程式語言的邏輯和使用到的技巧。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1887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2. 更正功能：解釋程式執行錯誤的原因和改善方式。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29062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3. 練習功能：透過上傳程式分析邏輯，做出相似題目。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62437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請你：1. 判斷實作可能性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19612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2. 提示詞該如何問讓 AI 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76787"/>
            <a:ext cx="64423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3. 如何利用 NotebookLM 和 Gemini Pro 製作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717" y="2947987"/>
            <a:ext cx="520928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D9488"/>
                </a:solidFill>
                <a:latin typeface="Noto Sans TC"/>
              </a:rPr>
              <a:t>AI 回覆之教育系統核心價值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2717" y="3405187"/>
            <a:ext cx="520928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角色定位：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確保 AI 扮演「助教」而非「代寫機器人」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2717" y="3805237"/>
            <a:ext cx="520928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壓制衝動：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加入嚴格輸出限制壓制直接給答案衝動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2717" y="4205287"/>
            <a:ext cx="520928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適用對象：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輔導學習 C/C++ 與基礎程式邏輯極大助力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2717" y="4605337"/>
            <a:ext cx="520928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Noto Sans TC"/>
              </a:rPr>
              <a:t>最大差異：</a:t>
            </a:r>
            <a:r>
              <a:rPr sz="1425" b="0" i="0" u="none">
                <a:solidFill>
                  <a:srgbClr val="0F172A"/>
                </a:solidFill>
                <a:latin typeface="Noto Sans TC"/>
              </a:rPr>
              <a:t>與一般 ChatGPT 最大的教育價值分水嶺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0166" y="2162175"/>
            <a:ext cx="10972800" cy="34766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752025"/>
              </p:ext>
            </p:extLst>
          </p:nvPr>
        </p:nvGraphicFramePr>
        <p:xfrm>
          <a:off x="270166" y="2162175"/>
          <a:ext cx="11707089" cy="3476625"/>
        </p:xfrm>
        <a:graphic>
          <a:graphicData uri="http://schemas.openxmlformats.org/drawingml/2006/table">
            <a:tbl>
              <a:tblPr/>
              <a:tblGrid>
                <a:gridCol w="2308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 err="1">
                          <a:solidFill>
                            <a:srgbClr val="FFFFFF"/>
                          </a:solidFill>
                          <a:latin typeface="Noto Sans TC"/>
                        </a:rPr>
                        <a:t>評估項目</a:t>
                      </a:r>
                      <a:endParaRPr sz="1500" b="1" i="0" u="none" dirty="0">
                        <a:solidFill>
                          <a:srgbClr val="FFFFFF"/>
                        </a:solidFill>
                        <a:latin typeface="Noto Sans TC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 i="0" u="none" dirty="0">
                          <a:solidFill>
                            <a:srgbClr val="FFFFFF"/>
                          </a:solidFill>
                          <a:latin typeface="Noto Sans TC"/>
                        </a:rPr>
                        <a:t>可行性指標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FFFFFF"/>
                          </a:solidFill>
                          <a:latin typeface="Noto Sans TC"/>
                        </a:rPr>
                        <a:t>AI </a:t>
                      </a:r>
                      <a:r>
                        <a:rPr sz="1500" b="1" i="0" u="none" dirty="0" err="1">
                          <a:solidFill>
                            <a:srgbClr val="FFFFFF"/>
                          </a:solidFill>
                          <a:latin typeface="Noto Sans TC"/>
                        </a:rPr>
                        <a:t>評估之具體技術原因與突破策略</a:t>
                      </a:r>
                      <a:endParaRPr sz="1500" b="1" i="0" u="none" dirty="0">
                        <a:solidFill>
                          <a:srgbClr val="FFFFFF"/>
                        </a:solidFill>
                        <a:latin typeface="Noto Sans TC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D9488"/>
                          </a:solidFill>
                          <a:latin typeface="Noto Sans TC"/>
                        </a:rPr>
                        <a:t>解釋與更正功能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50" b="1" i="0" u="none" dirty="0">
                          <a:solidFill>
                            <a:srgbClr val="0D9488"/>
                          </a:solidFill>
                          <a:latin typeface="Noto Sans TC"/>
                        </a:rPr>
                        <a:t>極高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Gemini 對 C/C++/Python 語法樹與常見錯誤（Segmentation Fault、無窮迴圈）辨識率極高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F172A"/>
                          </a:solidFill>
                          <a:latin typeface="Noto Sans TC"/>
                        </a:rPr>
                        <a:t>相似題練習功能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50" b="1" i="0" u="none" dirty="0">
                          <a:solidFill>
                            <a:srgbClr val="0F172A"/>
                          </a:solidFill>
                          <a:latin typeface="Noto Sans TC"/>
                        </a:rPr>
                        <a:t>難易度問題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AI 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易生過簡或超綱題目，須靠精準</a:t>
                      </a:r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Prompt 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控制並餵給</a:t>
                      </a:r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CPE 或 UVa 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題型結構確保品質</a:t>
                      </a:r>
                      <a:endParaRPr sz="1425" b="0" i="0" u="none" dirty="0">
                        <a:solidFill>
                          <a:srgbClr val="334155"/>
                        </a:solidFill>
                        <a:latin typeface="Noto Sans TC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0284C7"/>
                          </a:solidFill>
                          <a:latin typeface="Noto Sans TC"/>
                        </a:rPr>
                        <a:t>系統技術落地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50" b="1" i="0" u="none" dirty="0">
                          <a:solidFill>
                            <a:srgbClr val="0284C7"/>
                          </a:solidFill>
                          <a:latin typeface="Noto Sans TC"/>
                        </a:rPr>
                        <a:t>輕量高彈性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前端可採用網頁介面（HTML</a:t>
                      </a:r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/PHP/Bootstrap 或 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Gradio</a:t>
                      </a:r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），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後端直接串接</a:t>
                      </a:r>
                      <a:r>
                        <a:rPr sz="14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Gemini API </a:t>
                      </a:r>
                      <a:r>
                        <a:rPr sz="14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即時互動</a:t>
                      </a:r>
                      <a:endParaRPr sz="1425" b="0" i="0" u="none" dirty="0">
                        <a:solidFill>
                          <a:srgbClr val="334155"/>
                        </a:solidFill>
                        <a:latin typeface="Noto Sans TC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AI 回覆解析（一）：1. 實作可能性評估 — 整體評估：極高 (High)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AI 對三大核心功能與技術落地之詳細評估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7950"/>
            <a:ext cx="4530774" cy="2505075"/>
          </a:xfrm>
          <a:prstGeom prst="roundRect">
            <a:avLst>
              <a:gd name="adj" fmla="val 6083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3274" y="2438400"/>
            <a:ext cx="6099125" cy="2924175"/>
          </a:xfrm>
          <a:prstGeom prst="roundRect">
            <a:avLst>
              <a:gd name="adj" fmla="val 52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AI 回覆解析（二）：2. 核心提示詞設計 — 功能一：解釋功能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邏輯與技巧解析之設計重點與 System Prompt 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52750"/>
            <a:ext cx="514654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D9488"/>
                </a:solidFill>
                <a:latin typeface="Noto Sans TC"/>
              </a:rPr>
              <a:t>AI 建議之設計重點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074" y="2705100"/>
            <a:ext cx="64039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# AI 生成之「功能一：解釋功能」System Prompt 原文：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8074" y="2981325"/>
            <a:ext cx="55847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E2E8F0"/>
                </a:solidFill>
                <a:latin typeface="JetBrains Mono"/>
              </a:rPr>
              <a:t>你是一位具備豐富教學經驗的程式設計助教。請以初學者能理解的引導式口吻，解釋以下程式碼的運作邏輯。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074" y="3533775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要求：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074" y="3810000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1. 先用一句話總結這段程式碼的功能。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074" y="4086225"/>
            <a:ext cx="5584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2. 逐段/逐行解釋核心邏輯，特別標註使用到的關鍵技巧（例如：指標操作、陣列走訪、遞迴等）。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074" y="4562475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3. 舉出一個生活化的比喻來幫助理解該邏輯。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074" y="4895850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[輸入程式碼]：(插入學生的程式碼)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00425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語氣設定：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拆解步驟避免生硬專有名詞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00475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要求一：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先用一句話總結這段程式碼功能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0525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要求二：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標註指標操作、陣列走訪、遞迴技巧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00575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Noto Sans TC"/>
              </a:rPr>
              <a:t>要求三：</a:t>
            </a:r>
            <a:r>
              <a:rPr sz="1425" b="0" i="0" u="none">
                <a:solidFill>
                  <a:srgbClr val="0D9488"/>
                </a:solidFill>
                <a:latin typeface="Noto Sans TC"/>
              </a:rPr>
              <a:t>舉出一個生活化比喻幫助理解邏輯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4530774" cy="2752725"/>
          </a:xfrm>
          <a:prstGeom prst="roundRect">
            <a:avLst>
              <a:gd name="adj" fmla="val 5536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3274" y="2533650"/>
            <a:ext cx="6099125" cy="2733675"/>
          </a:xfrm>
          <a:prstGeom prst="roundRect">
            <a:avLst>
              <a:gd name="adj" fmla="val 55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TC"/>
              </a:rPr>
              <a:t>AI 回覆解析（三）：2. 核心提示詞設計 — 功能二：更正功能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錯誤成因與改善之設計重點與 System Prompt 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28925"/>
            <a:ext cx="514654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F172A"/>
                </a:solidFill>
                <a:latin typeface="Noto Sans TC"/>
              </a:rPr>
              <a:t>AI 建議之設計重點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074" y="2800350"/>
            <a:ext cx="64039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# AI 生成之「功能二：更正功能」System Prompt 原文：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8074" y="3076575"/>
            <a:ext cx="5584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JetBrains Mono"/>
              </a:rPr>
              <a:t>學生提交了一段有 Bug 的程式碼，並遇到了執行錯誤/非預期輸出。你的任務是引導學生找出錯誤，而不是直接把答案給他。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074" y="3571875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1. 指出位置：明確說明錯誤發生在哪一行或哪一個區塊。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074" y="3829050"/>
            <a:ext cx="64039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2. 解釋成因：說明為什麼發生錯誤（陣列越界、未初始化等）。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074" y="4086225"/>
            <a:ext cx="5584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7171"/>
                </a:solidFill>
                <a:latin typeface="JetBrains Mono"/>
              </a:rPr>
              <a:t>3. 給予提示：提供 1 到 2 個修改方向或反思問題，引導學生自行修正，嚴禁直接輸出修正後的完整程式碼。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074" y="4600575"/>
            <a:ext cx="64039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DE80"/>
                </a:solidFill>
                <a:latin typeface="JetBrains Mono"/>
              </a:rPr>
              <a:t>[錯誤訊息/預期與實際輸出]：(插入錯誤資訊)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074" y="4819650"/>
            <a:ext cx="64039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DE80"/>
                </a:solidFill>
                <a:latin typeface="JetBrains Mono"/>
              </a:rPr>
              <a:t>[輸入程式碼]：(插入學生的程式碼)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76600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DC2626"/>
                </a:solidFill>
                <a:latin typeface="Noto Sans TC"/>
              </a:rPr>
              <a:t>核心原則：</a:t>
            </a:r>
            <a:r>
              <a:rPr sz="1425" b="0" i="0" u="none">
                <a:solidFill>
                  <a:srgbClr val="DC2626"/>
                </a:solidFill>
                <a:latin typeface="Noto Sans TC"/>
              </a:rPr>
              <a:t>絕不直接給出正確完整程式碼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6650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指出位置：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明確說明錯誤發生在哪一行或區塊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76700"/>
            <a:ext cx="4016424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解釋成因：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陣列越界、變數未初始化、型別不匹配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24400"/>
            <a:ext cx="4901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給予提示：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提供 1 至 2 個修改方向或反思問題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8437"/>
            <a:ext cx="6083349" cy="2324100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35849" y="2847975"/>
            <a:ext cx="4546550" cy="2105025"/>
          </a:xfrm>
          <a:prstGeom prst="roundRect">
            <a:avLst>
              <a:gd name="adj" fmla="val 723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TC"/>
              </a:rPr>
              <a:t>AI 回覆解析（四）：2. 核心提示詞設計 — 功能三：練習功能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相似題型生成之五步結構與 System Prompt 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986087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# AI 生成之「功能三：練習功能」System Prompt 原文：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243262"/>
            <a:ext cx="5607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JetBrains Mono"/>
              </a:rPr>
              <a:t>請分析以下程式碼所包含的「核心語法」與「演算法邏輯」。根據分析結果，生成一道難度相當、但應用場景完全不同的全新練習題。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719512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BA74"/>
                </a:solidFill>
                <a:latin typeface="JetBrains Mono"/>
              </a:rPr>
              <a:t>1. 知識點萃取：列出這題測驗了哪些程式概念。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948112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BA74"/>
                </a:solidFill>
                <a:latin typeface="JetBrains Mono"/>
              </a:rPr>
              <a:t>2. 情境包裝：如將「計算成績平均」改為「購物車總價」。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4176712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BA74"/>
                </a:solidFill>
                <a:latin typeface="JetBrains Mono"/>
              </a:rPr>
              <a:t>3. 題目敘述：包含題目說明、輸入格式、輸出格式。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405312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DBA74"/>
                </a:solidFill>
                <a:latin typeface="JetBrains Mono"/>
              </a:rPr>
              <a:t>4. 測資提供：提供至少兩組 Test Cases (Input/Output)。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4633912"/>
            <a:ext cx="688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DE80"/>
                </a:solidFill>
                <a:latin typeface="JetBrains Mono"/>
              </a:rPr>
              <a:t>5. 隱藏解答：放最底部並加上標示以便系統隱藏或展開。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0649" y="3152775"/>
            <a:ext cx="4851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0284C7"/>
                </a:solidFill>
                <a:latin typeface="Noto Sans TC"/>
              </a:rPr>
              <a:t>從 AI 建議到程式實作落實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0649" y="3600450"/>
            <a:ext cx="485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難度鎖定：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鎖定相同難度與核心演算法知識點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0649" y="4000500"/>
            <a:ext cx="485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Noto Sans TC"/>
              </a:rPr>
              <a:t>情境轉換：</a:t>
            </a:r>
            <a:r>
              <a:rPr sz="1425" b="0" i="0" u="none">
                <a:solidFill>
                  <a:srgbClr val="1E293B"/>
                </a:solidFill>
                <a:latin typeface="Noto Sans TC"/>
              </a:rPr>
              <a:t>徹底改變應用場景防止學生死背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0649" y="4400550"/>
            <a:ext cx="4851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Noto Sans TC"/>
              </a:rPr>
              <a:t>隱藏實作：</a:t>
            </a:r>
            <a:r>
              <a:rPr sz="1425" b="0" i="0" u="none">
                <a:solidFill>
                  <a:srgbClr val="0D9488"/>
                </a:solidFill>
                <a:latin typeface="Noto Sans TC"/>
              </a:rPr>
              <a:t>於 app.py 中採用 語法封裝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0787"/>
            <a:ext cx="5334000" cy="28194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24125"/>
            <a:ext cx="5334000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4637"/>
            <a:ext cx="207466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47975"/>
            <a:ext cx="20746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AI 回覆解析（五）：3. 利用 NotebookLM 與 Gemini Pro 製作系統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Noto Sans TC"/>
              </a:rPr>
              <a:t>「</a:t>
            </a:r>
            <a:r>
              <a:rPr sz="2700" b="1" i="0" u="none" dirty="0" err="1">
                <a:solidFill>
                  <a:srgbClr val="0F172A"/>
                </a:solidFill>
                <a:latin typeface="Noto Sans TC"/>
              </a:rPr>
              <a:t>知識庫大腦」與「即時推論引擎」兩階段整合策略</a:t>
            </a:r>
            <a:endParaRPr sz="2700" b="1" i="0" u="none" dirty="0">
              <a:solidFill>
                <a:srgbClr val="0F172A"/>
              </a:solidFill>
              <a:latin typeface="Noto Sans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5216" y="2795587"/>
            <a:ext cx="555030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TC"/>
              </a:rPr>
              <a:t>階段一：NotebookLM 教學知識庫 (RAG)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52787"/>
            <a:ext cx="4819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TC"/>
              </a:rPr>
              <a:t>匯入教材來源：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上傳 C/C++ 講義、CPE 考古題、UVa 筆記與常犯錯誤清單 PDF/Markdown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1437"/>
            <a:ext cx="4819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TC"/>
              </a:rPr>
              <a:t>生成教學指引：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自動梳理各單元「重點教學話術」與「標準解題起手式」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10087"/>
            <a:ext cx="4819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D9488"/>
                </a:solidFill>
                <a:latin typeface="Noto Sans TC"/>
              </a:rPr>
              <a:t>系統應用：</a:t>
            </a:r>
            <a:r>
              <a:rPr sz="1425" b="0" i="0" u="none">
                <a:solidFill>
                  <a:srgbClr val="0D9488"/>
                </a:solidFill>
                <a:latin typeface="Noto Sans TC"/>
              </a:rPr>
              <a:t>將「課程知識綱要」嵌入 System Prompt，避免講出超出大一/大二複雜語法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016" y="2828925"/>
            <a:ext cx="468437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TC"/>
              </a:rPr>
              <a:t>階段二：Gemini Pro 動態推論引擎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286125"/>
            <a:ext cx="4819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TC"/>
              </a:rPr>
              <a:t>長文邏輯分析：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超大 Context Window 完整讀取多函式長篇專案並精準定位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914775"/>
            <a:ext cx="4819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Noto Sans TC"/>
              </a:rPr>
              <a:t>動態 Prompt 組合：</a:t>
            </a:r>
            <a:r>
              <a:rPr sz="1425" b="0" i="0" u="none">
                <a:solidFill>
                  <a:srgbClr val="334155"/>
                </a:solidFill>
                <a:latin typeface="Noto Sans TC"/>
              </a:rPr>
              <a:t>依點擊按鈕（解釋、糾錯、出題）將程式碼與對應 Template 組合發送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543425"/>
            <a:ext cx="48196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JetBrains Mono"/>
              </a:rPr>
              <a:t>結構化輸出：</a:t>
            </a:r>
            <a:r>
              <a:rPr sz="1350" b="0" i="0" u="none">
                <a:solidFill>
                  <a:srgbClr val="0F172A"/>
                </a:solidFill>
                <a:latin typeface="JetBrains Mono"/>
              </a:rPr>
              <a:t>支援回傳 {"error_line": 15, "reason": "...", "hint": "..."}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1ED0254-2058-4404-9DF0-B041D14D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" y="0"/>
            <a:ext cx="12146097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9DDB100-7936-ABA5-A60F-C46FFE2F18C6}"/>
              </a:ext>
            </a:extLst>
          </p:cNvPr>
          <p:cNvSpPr/>
          <p:nvPr/>
        </p:nvSpPr>
        <p:spPr>
          <a:xfrm>
            <a:off x="1821873" y="3186545"/>
            <a:ext cx="852054" cy="831273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CC89882-8625-3B7E-3B49-156325A1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82" t="46061" r="20742" b="41818"/>
          <a:stretch>
            <a:fillRect/>
          </a:stretch>
        </p:blipFill>
        <p:spPr>
          <a:xfrm>
            <a:off x="1939637" y="3186545"/>
            <a:ext cx="6920345" cy="8312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4200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3124200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3124200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541" y="3124200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521" y="3124200"/>
            <a:ext cx="207258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36340" y="3352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61320" y="3352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86301" y="3352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11281" y="3352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36262" y="3352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Noto Sans TC"/>
              </a:rPr>
              <a:t>系統程式結構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app.py 五大核心程式區塊與環境啟動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465" y="3352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Noto Sans TC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787" y="3924300"/>
            <a:ext cx="227020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oto Sans TC"/>
              </a:rPr>
              <a:t>提示詞範本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839" y="4257675"/>
            <a:ext cx="2162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TC"/>
              </a:rPr>
              <a:t>定義三大全域指令常數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8445" y="3352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Noto Sans TC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67" y="3924300"/>
            <a:ext cx="227020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oto Sans TC"/>
              </a:rPr>
              <a:t>底層核心函式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9820" y="4257675"/>
            <a:ext cx="2162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TC"/>
              </a:rPr>
              <a:t>讀檔與 API 異常捕捉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3426" y="3352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Noto Sans TC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0748" y="3924300"/>
            <a:ext cx="227020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oto Sans TC"/>
              </a:rPr>
              <a:t>按鈕處理邏輯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4800" y="4257675"/>
            <a:ext cx="2162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TC"/>
              </a:rPr>
              <a:t>字串格式化與空值防呆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8406" y="3352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Noto Sans TC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5728" y="3924300"/>
            <a:ext cx="227020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oto Sans TC"/>
              </a:rPr>
              <a:t>Gradio 雙欄介面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781" y="4257675"/>
            <a:ext cx="2162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TC"/>
              </a:rPr>
              <a:t>元件佈局與事件綁定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3387" y="33528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Noto Sans TC"/>
              </a:rPr>
              <a:t>M5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0709" y="3924300"/>
            <a:ext cx="227020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Noto Sans TC"/>
              </a:rPr>
              <a:t>自動啟動服務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761" y="4257675"/>
            <a:ext cx="2162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Noto Sans TC"/>
              </a:rPr>
              <a:t>inbrowser 自動開網頁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49899" y="2700337"/>
            <a:ext cx="5763880" cy="2314575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Noto Sans TC"/>
              </a:rPr>
              <a:t>後端核心函式實作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610263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zh-TW" altLang="en-US" sz="2800" b="1" dirty="0">
                <a:latin typeface="Noto Sans TC"/>
              </a:rPr>
              <a:t>來源切換讀取機制與潛在 </a:t>
            </a:r>
            <a:r>
              <a:rPr lang="en-US" altLang="zh-TW" sz="2800" b="1" dirty="0">
                <a:latin typeface="Noto Sans TC"/>
              </a:rPr>
              <a:t>Bug </a:t>
            </a:r>
            <a:r>
              <a:rPr lang="zh-TW" altLang="en-US" sz="2800" b="1" dirty="0">
                <a:latin typeface="Noto Sans TC"/>
              </a:rPr>
              <a:t>智慧預測</a:t>
            </a:r>
            <a:endParaRPr sz="2700" b="1" i="0" u="none" dirty="0">
              <a:solidFill>
                <a:srgbClr val="0F172A"/>
              </a:solidFill>
              <a:latin typeface="Noto Sans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54699" y="2967037"/>
            <a:ext cx="6737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94A3B8"/>
                </a:solidFill>
                <a:latin typeface="JetBrains Mono"/>
              </a:rPr>
              <a:t># app.py: </a:t>
            </a:r>
            <a:r>
              <a:rPr sz="1125" b="0" i="0" u="none" dirty="0" err="1">
                <a:solidFill>
                  <a:srgbClr val="94A3B8"/>
                </a:solidFill>
                <a:latin typeface="JetBrains Mono"/>
              </a:rPr>
              <a:t>更正功能防呆與動態組裝邏輯</a:t>
            </a:r>
            <a:endParaRPr sz="1125" b="0" i="0" u="none" dirty="0">
              <a:solidFill>
                <a:srgbClr val="94A3B8"/>
              </a:solidFill>
              <a:latin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4699" y="3224212"/>
            <a:ext cx="6737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JetBrains Mono"/>
              </a:rPr>
              <a:t>def handle_correct(api_key, model_name, code_text, file, err):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4699" y="3462337"/>
            <a:ext cx="6737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JetBrains Mono"/>
              </a:rPr>
              <a:t>code = get_code_content(code_text, file)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4699" y="3700462"/>
            <a:ext cx="6737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DBA74"/>
                </a:solidFill>
                <a:latin typeface="JetBrains Mono"/>
              </a:rPr>
              <a:t>err_msg = err.strip() if err and err.strip() else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699" y="3938587"/>
            <a:ext cx="6737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"無提供具體錯誤訊息，請進行潛在 Bug 預測。"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4699" y="4214812"/>
            <a:ext cx="50897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0" i="0" u="none" dirty="0">
                <a:solidFill>
                  <a:srgbClr val="E2E8F0"/>
                </a:solidFill>
                <a:latin typeface="JetBrains Mono"/>
              </a:rPr>
              <a:t>prompt = </a:t>
            </a:r>
            <a:r>
              <a:rPr sz="1200" b="0" i="0" u="none" dirty="0" err="1">
                <a:solidFill>
                  <a:srgbClr val="E2E8F0"/>
                </a:solidFill>
                <a:latin typeface="JetBrains Mono"/>
              </a:rPr>
              <a:t>PROMPT_CORRECT_TEMPLATE.format</a:t>
            </a:r>
            <a:r>
              <a:rPr sz="1200" b="0" i="0" u="none" dirty="0">
                <a:solidFill>
                  <a:srgbClr val="E2E8F0"/>
                </a:solidFill>
                <a:latin typeface="JetBrains Mono"/>
              </a:rPr>
              <a:t>(</a:t>
            </a:r>
            <a:r>
              <a:rPr lang="en-US" altLang="zh-TW" sz="1200" dirty="0">
                <a:solidFill>
                  <a:srgbClr val="E2E8F0"/>
                </a:solidFill>
                <a:latin typeface="JetBrains Mono"/>
              </a:rPr>
              <a:t>code=code, </a:t>
            </a:r>
            <a:r>
              <a:rPr lang="en-US" altLang="zh-TW" sz="1200" dirty="0" err="1">
                <a:solidFill>
                  <a:srgbClr val="E2E8F0"/>
                </a:solidFill>
                <a:latin typeface="JetBrains Mono"/>
              </a:rPr>
              <a:t>error_info</a:t>
            </a:r>
            <a:r>
              <a:rPr lang="en-US" altLang="zh-TW" sz="1200" dirty="0">
                <a:solidFill>
                  <a:srgbClr val="E2E8F0"/>
                </a:solidFill>
                <a:latin typeface="JetBrains Mono"/>
              </a:rPr>
              <a:t>=</a:t>
            </a:r>
            <a:r>
              <a:rPr lang="en-US" altLang="zh-TW" sz="1200" dirty="0" err="1">
                <a:solidFill>
                  <a:srgbClr val="E2E8F0"/>
                </a:solidFill>
                <a:latin typeface="JetBrains Mono"/>
              </a:rPr>
              <a:t>err_msg</a:t>
            </a:r>
            <a:r>
              <a:rPr lang="en-US" altLang="zh-TW" sz="1200" dirty="0">
                <a:solidFill>
                  <a:srgbClr val="E2E8F0"/>
                </a:solidFill>
                <a:latin typeface="JetBrains Mono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4699" y="4483246"/>
            <a:ext cx="67373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return </a:t>
            </a: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call_gemini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</a:t>
            </a: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api_key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, </a:t>
            </a: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model_name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, prompt)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824162"/>
            <a:ext cx="28314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3BA89E"/>
                </a:solidFill>
                <a:latin typeface="Noto Sans TC"/>
              </a:rPr>
              <a:t>get_code_content</a:t>
            </a:r>
            <a:r>
              <a:rPr dirty="0">
                <a:solidFill>
                  <a:srgbClr val="3BA89E"/>
                </a:solidFill>
              </a:rPr>
              <a:t>()</a:t>
            </a:r>
            <a:r>
              <a:rPr lang="zh-TW" altLang="en-US" sz="1650" b="1" dirty="0">
                <a:solidFill>
                  <a:srgbClr val="3BA89E"/>
                </a:solidFill>
                <a:latin typeface="Noto Sans TC"/>
              </a:rPr>
              <a:t> 來源二選一</a:t>
            </a:r>
            <a:endParaRPr sz="1650" b="1" i="0" u="none" dirty="0">
              <a:solidFill>
                <a:srgbClr val="3BA89E"/>
              </a:solidFill>
              <a:latin typeface="Noto Sans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3180153"/>
            <a:ext cx="3472104" cy="44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zh-TW" altLang="en-US" sz="1430" dirty="0">
                <a:latin typeface="Noto Sans TC"/>
              </a:rPr>
              <a:t>依使用者勾選模式（直接貼上或上傳檔案）</a:t>
            </a:r>
            <a:endParaRPr lang="en-US" altLang="zh-TW" sz="1430" dirty="0">
              <a:latin typeface="Noto Sans TC"/>
            </a:endParaRPr>
          </a:p>
          <a:p>
            <a:pPr algn="l"/>
            <a:r>
              <a:rPr lang="zh-TW" altLang="en-US" sz="1430" dirty="0">
                <a:latin typeface="Noto Sans TC"/>
              </a:rPr>
              <a:t>精準讀取程式碼</a:t>
            </a:r>
            <a:endParaRPr sz="1430" b="0" i="0" u="none" dirty="0">
              <a:solidFill>
                <a:srgbClr val="334155"/>
              </a:solidFill>
              <a:latin typeface="Noto Sans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3728167"/>
            <a:ext cx="545908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call_gemini</a:t>
            </a:r>
            <a:r>
              <a:rPr sz="1650" b="1" i="0" u="none" dirty="0">
                <a:solidFill>
                  <a:srgbClr val="0F172A"/>
                </a:solidFill>
                <a:latin typeface="Noto Sans TC"/>
              </a:rPr>
              <a:t>() </a:t>
            </a:r>
            <a:r>
              <a:rPr sz="1650" b="1" i="0" u="none" dirty="0" err="1">
                <a:solidFill>
                  <a:srgbClr val="0F172A"/>
                </a:solidFill>
                <a:latin typeface="Noto Sans TC"/>
              </a:rPr>
              <a:t>動態驗證</a:t>
            </a:r>
            <a:endParaRPr sz="1650" b="1" i="0" u="none" dirty="0">
              <a:solidFill>
                <a:srgbClr val="0F172A"/>
              </a:solidFill>
              <a:latin typeface="Noto Sans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4071067"/>
            <a:ext cx="519912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即時驗證</a:t>
            </a:r>
            <a:r>
              <a:rPr sz="1425" b="0" i="0" u="none" dirty="0">
                <a:solidFill>
                  <a:srgbClr val="334155"/>
                </a:solidFill>
                <a:latin typeface="Noto Sans TC"/>
              </a:rPr>
              <a:t> API Key </a:t>
            </a:r>
            <a:r>
              <a:rPr sz="1425" b="0" i="0" u="none" dirty="0" err="1">
                <a:solidFill>
                  <a:srgbClr val="334155"/>
                </a:solidFill>
                <a:latin typeface="Noto Sans TC"/>
              </a:rPr>
              <a:t>並捕捉網路異常</a:t>
            </a:r>
            <a:endParaRPr sz="1425" b="0" i="0" u="none" dirty="0">
              <a:solidFill>
                <a:srgbClr val="334155"/>
              </a:solidFill>
              <a:latin typeface="Noto Sans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4424362"/>
            <a:ext cx="545908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Noto Sans TC"/>
              </a:rPr>
              <a:t>handle_correct() 智慧補全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767262"/>
            <a:ext cx="519912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Noto Sans TC"/>
              </a:rPr>
              <a:t>未填錯誤訊息時自動改為潛在 Bug 預測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91171"/>
            <a:ext cx="6553200" cy="3554556"/>
          </a:xfrm>
          <a:prstGeom prst="roundRect">
            <a:avLst>
              <a:gd name="adj" fmla="val 663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TC"/>
              </a:rPr>
              <a:t>前端介面與事件綁定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Gradio 雙欄式佈局與非同步點擊事件串接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55693"/>
            <a:ext cx="7278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JetBrains Mono"/>
              </a:rPr>
              <a:t># app.py: 模型選單與按鈕事件綁定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2868"/>
            <a:ext cx="3561873" cy="1955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zh-TW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load_model_db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dirty="0">
                <a:solidFill>
                  <a:srgbClr val="CE9178"/>
                </a:solidFill>
                <a:latin typeface="Consolas" panose="020B0609020204030204" pitchFamily="49" charset="0"/>
              </a:rPr>
              <a:t>#</a:t>
            </a:r>
            <a:r>
              <a:rPr lang="zh-TW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讀取模型白名單資料庫。</a:t>
            </a:r>
            <a:endParaRPr lang="zh-TW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327657"/>
            <a:ext cx="7278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ADE80"/>
                </a:solidFill>
                <a:latin typeface="JetBrains Mono"/>
              </a:rPr>
              <a:t>demo.launch</a:t>
            </a:r>
            <a:r>
              <a:rPr sz="1200" b="0" i="0" u="none" dirty="0">
                <a:solidFill>
                  <a:srgbClr val="4ADE80"/>
                </a:solidFill>
                <a:latin typeface="JetBrains Mono"/>
              </a:rPr>
              <a:t>(</a:t>
            </a:r>
            <a:r>
              <a:rPr sz="1200" b="0" i="0" u="none" dirty="0" err="1">
                <a:solidFill>
                  <a:srgbClr val="4ADE80"/>
                </a:solidFill>
                <a:latin typeface="JetBrains Mono"/>
              </a:rPr>
              <a:t>inbrowser</a:t>
            </a:r>
            <a:r>
              <a:rPr sz="1200" b="0" i="0" u="none" dirty="0">
                <a:solidFill>
                  <a:srgbClr val="4ADE80"/>
                </a:solidFill>
                <a:latin typeface="JetBrains Mono"/>
              </a:rPr>
              <a:t>=True) # </a:t>
            </a:r>
            <a:r>
              <a:rPr sz="1200" b="0" i="0" u="none" dirty="0" err="1">
                <a:solidFill>
                  <a:srgbClr val="4ADE80"/>
                </a:solidFill>
                <a:latin typeface="JetBrains Mono"/>
              </a:rPr>
              <a:t>自動開啟瀏覽器</a:t>
            </a:r>
            <a:endParaRPr sz="1200" b="0" i="0" u="none" dirty="0">
              <a:solidFill>
                <a:srgbClr val="4ADE80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3100" y="3071812"/>
            <a:ext cx="4768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E293B"/>
                </a:solidFill>
                <a:latin typeface="Noto Sans TC"/>
              </a:rPr>
              <a:t>免費高配額：</a:t>
            </a:r>
            <a:r>
              <a:rPr sz="1575" b="0" i="0" u="none">
                <a:solidFill>
                  <a:srgbClr val="1E293B"/>
                </a:solidFill>
                <a:latin typeface="Noto Sans TC"/>
              </a:rPr>
              <a:t>主打 Flash 教育模型免綁卡學習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3100" y="4031010"/>
            <a:ext cx="4768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 dirty="0" err="1">
                <a:solidFill>
                  <a:srgbClr val="1E293B"/>
                </a:solidFill>
                <a:latin typeface="Noto Sans TC"/>
              </a:rPr>
              <a:t>多格式支援：</a:t>
            </a:r>
            <a:r>
              <a:rPr sz="1575" b="0" i="0" u="none" dirty="0" err="1">
                <a:solidFill>
                  <a:srgbClr val="1E293B"/>
                </a:solidFill>
                <a:latin typeface="Noto Sans TC"/>
              </a:rPr>
              <a:t>支援直接貼上或上傳多語言檔案</a:t>
            </a:r>
            <a:endParaRPr sz="1575" b="0" i="0" u="none" dirty="0">
              <a:solidFill>
                <a:srgbClr val="1E293B"/>
              </a:solidFill>
              <a:latin typeface="Noto Sans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3100" y="4500562"/>
            <a:ext cx="4768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D9488"/>
                </a:solidFill>
                <a:latin typeface="Noto Sans TC"/>
              </a:rPr>
              <a:t>一鍵啟動：</a:t>
            </a:r>
            <a:r>
              <a:rPr sz="1575" b="0" i="0" u="none">
                <a:solidFill>
                  <a:srgbClr val="0D9488"/>
                </a:solidFill>
                <a:latin typeface="Noto Sans TC"/>
              </a:rPr>
              <a:t>執行腳本自動彈出本機 7860 埠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92949F3-E53A-C4C8-6430-C8937A84707A}"/>
              </a:ext>
            </a:extLst>
          </p:cNvPr>
          <p:cNvSpPr txBox="1"/>
          <p:nvPr/>
        </p:nvSpPr>
        <p:spPr>
          <a:xfrm>
            <a:off x="838200" y="2702467"/>
            <a:ext cx="609600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"_comment"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"程式教學專用 Gemini 模型白名單 (自動排除 tts 與 live 語音模型)"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"free_models"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"gemini-3.8-flash"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"gemini-3.6-flash"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"gemini-3.5-flash-lite"</a:t>
            </a:r>
            <a:endParaRPr lang="zh-TW" altLang="zh-TW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"paid_models"</a:t>
            </a: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"gemini-4-argon"</a:t>
            </a:r>
            <a:endParaRPr lang="zh-TW" altLang="zh-TW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ct val="113095"/>
              </a:lnSpc>
              <a:buNone/>
            </a:pPr>
            <a:r>
              <a:rPr lang="zh-TW" altLang="zh-TW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EEC90E8-B515-761E-A1C8-39D1597D9A21}"/>
              </a:ext>
            </a:extLst>
          </p:cNvPr>
          <p:cNvSpPr txBox="1"/>
          <p:nvPr/>
        </p:nvSpPr>
        <p:spPr>
          <a:xfrm>
            <a:off x="838200" y="5010992"/>
            <a:ext cx="6324600" cy="287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zh-TW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get_code_content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source_choice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code_text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TW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uploaded_file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200" dirty="0">
                <a:solidFill>
                  <a:srgbClr val="6A9955"/>
                </a:solidFill>
                <a:latin typeface="Consolas" panose="020B0609020204030204" pitchFamily="49" charset="0"/>
              </a:rPr>
              <a:t>#</a:t>
            </a:r>
            <a:r>
              <a:rPr lang="zh-TW" altLang="en-US" sz="1200" dirty="0">
                <a:solidFill>
                  <a:srgbClr val="6A9955"/>
                </a:solidFill>
                <a:latin typeface="Consolas" panose="020B0609020204030204" pitchFamily="49" charset="0"/>
              </a:rPr>
              <a:t>多格式支援</a:t>
            </a:r>
            <a:endParaRPr lang="zh-TW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7B405433-2EAB-F768-FE63-ADCE93F50D19}"/>
              </a:ext>
            </a:extLst>
          </p:cNvPr>
          <p:cNvSpPr txBox="1"/>
          <p:nvPr/>
        </p:nvSpPr>
        <p:spPr>
          <a:xfrm>
            <a:off x="7423101" y="3550457"/>
            <a:ext cx="47688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 dirty="0" err="1">
                <a:solidFill>
                  <a:srgbClr val="1E293B"/>
                </a:solidFill>
                <a:latin typeface="Noto Sans TC"/>
              </a:rPr>
              <a:t>動態載入：</a:t>
            </a:r>
            <a:r>
              <a:rPr sz="1575" b="0" i="0" u="none" dirty="0" err="1">
                <a:solidFill>
                  <a:srgbClr val="1E293B"/>
                </a:solidFill>
                <a:latin typeface="Noto Sans TC"/>
              </a:rPr>
              <a:t>支援一鍵載入可用模型與雙級切換</a:t>
            </a:r>
            <a:endParaRPr sz="1575" b="0" i="0" u="none" dirty="0">
              <a:solidFill>
                <a:srgbClr val="1E293B"/>
              </a:solidFill>
              <a:latin typeface="Noto Sans TC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03D0438-A85D-E3CE-AD33-AD87306A4E16}"/>
              </a:ext>
            </a:extLst>
          </p:cNvPr>
          <p:cNvSpPr txBox="1"/>
          <p:nvPr/>
        </p:nvSpPr>
        <p:spPr>
          <a:xfrm>
            <a:off x="838200" y="4731276"/>
            <a:ext cx="6096000" cy="287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</a:pPr>
            <a:r>
              <a:rPr lang="zh-TW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toggle_model_visibility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zh-TW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TW" alt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200" dirty="0">
                <a:solidFill>
                  <a:srgbClr val="6A9955"/>
                </a:solidFill>
                <a:latin typeface="Consolas" panose="020B0609020204030204" pitchFamily="49" charset="0"/>
              </a:rPr>
              <a:t># 模型選單動態切換</a:t>
            </a:r>
            <a:endParaRPr lang="zh-TW" altLang="zh-TW" sz="12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4792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3209925"/>
            <a:ext cx="11430000" cy="723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0F172A"/>
                </a:solidFill>
                <a:latin typeface="Noto Sans TC"/>
              </a:rPr>
              <a:t>系統實作成果展示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24325"/>
            <a:ext cx="8096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rgbClr val="475569"/>
                </a:solidFill>
                <a:latin typeface="Noto Sans TC"/>
              </a:rPr>
              <a:t>最新版網頁介面實際運行畫面、操作流程與未來優化方向</a:t>
            </a:r>
            <a:endParaRPr sz="1650" b="0" i="0" u="none" dirty="0">
              <a:solidFill>
                <a:srgbClr val="475569"/>
              </a:solidFill>
              <a:latin typeface="Noto Sans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9125" y="2447925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Noto Sans T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624137"/>
            <a:ext cx="11239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Noto Sans TC"/>
              </a:rPr>
              <a:t>第三部分</a:t>
            </a:r>
          </a:p>
        </p:txBody>
      </p:sp>
      <p:pic>
        <p:nvPicPr>
          <p:cNvPr id="8" name="圖片 7">
            <a:hlinkClick r:id="rId2"/>
            <a:extLst>
              <a:ext uri="{FF2B5EF4-FFF2-40B4-BE49-F238E27FC236}">
                <a16:creationId xmlns:a16="http://schemas.microsoft.com/office/drawing/2014/main" id="{D64ECF73-B4C8-E112-E56D-EBCF698EB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693" y="1588077"/>
            <a:ext cx="3577071" cy="3577071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EBED15CF-E2F2-E42E-4FFC-175229BA64E1}"/>
              </a:ext>
            </a:extLst>
          </p:cNvPr>
          <p:cNvSpPr txBox="1"/>
          <p:nvPr/>
        </p:nvSpPr>
        <p:spPr>
          <a:xfrm>
            <a:off x="7376592" y="5269512"/>
            <a:ext cx="324127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TW" sz="2400" b="1" i="0" u="none" dirty="0" err="1">
                <a:solidFill>
                  <a:srgbClr val="475569"/>
                </a:solidFill>
                <a:latin typeface="Noto Sans TC"/>
                <a:hlinkClick r:id="rId2"/>
              </a:rPr>
              <a:t>Github</a:t>
            </a:r>
            <a:r>
              <a:rPr lang="en-US" altLang="zh-TW" sz="2400" b="1" i="0" u="none" dirty="0">
                <a:solidFill>
                  <a:srgbClr val="475569"/>
                </a:solidFill>
                <a:latin typeface="Noto Sans TC"/>
                <a:hlinkClick r:id="rId2"/>
              </a:rPr>
              <a:t> </a:t>
            </a:r>
            <a:r>
              <a:rPr lang="zh-TW" altLang="en-US" sz="2400" b="1" dirty="0">
                <a:solidFill>
                  <a:srgbClr val="475569"/>
                </a:solidFill>
                <a:latin typeface="Noto Sans TC"/>
                <a:hlinkClick r:id="rId2"/>
              </a:rPr>
              <a:t>實作</a:t>
            </a:r>
            <a:r>
              <a:rPr lang="zh-TW" altLang="en-US" sz="2400" b="1" i="0" u="none" dirty="0">
                <a:solidFill>
                  <a:srgbClr val="475569"/>
                </a:solidFill>
                <a:latin typeface="Noto Sans TC"/>
                <a:hlinkClick r:id="rId2"/>
              </a:rPr>
              <a:t>倉庫連結</a:t>
            </a:r>
            <a:endParaRPr sz="2400" b="1" i="0" u="none" dirty="0">
              <a:solidFill>
                <a:srgbClr val="475569"/>
              </a:solidFill>
              <a:latin typeface="Noto Sans T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TC"/>
              </a:rPr>
              <a:t>系統實際運行畫面（最新版本）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本機伺服器啟動與新版介面操作流程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7035" y="2586037"/>
            <a:ext cx="423251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TC"/>
              </a:rPr>
              <a:t>步驟 A 載入模型：</a:t>
            </a:r>
            <a:r>
              <a:rPr sz="1500" b="0" i="0" u="none">
                <a:solidFill>
                  <a:srgbClr val="1E293B"/>
                </a:solidFill>
                <a:latin typeface="Noto Sans TC"/>
              </a:rPr>
              <a:t>輸入金鑰並切換免費 Flash 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7035" y="3290887"/>
            <a:ext cx="423251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1E293B"/>
                </a:solidFill>
                <a:latin typeface="Noto Sans TC"/>
              </a:rPr>
              <a:t>步驟</a:t>
            </a:r>
            <a:r>
              <a:rPr sz="1500" b="1" i="0" u="none" dirty="0">
                <a:solidFill>
                  <a:srgbClr val="1E293B"/>
                </a:solidFill>
                <a:latin typeface="Noto Sans TC"/>
              </a:rPr>
              <a:t> B </a:t>
            </a:r>
            <a:r>
              <a:rPr sz="1500" b="1" i="0" u="none" dirty="0" err="1">
                <a:solidFill>
                  <a:srgbClr val="1E293B"/>
                </a:solidFill>
                <a:latin typeface="Noto Sans TC"/>
              </a:rPr>
              <a:t>來源切換：</a:t>
            </a:r>
            <a:r>
              <a:rPr sz="1500" b="0" i="0" u="none" dirty="0" err="1">
                <a:solidFill>
                  <a:srgbClr val="1E293B"/>
                </a:solidFill>
                <a:latin typeface="Noto Sans TC"/>
              </a:rPr>
              <a:t>選擇直接貼上程式碼或上傳檔案</a:t>
            </a:r>
            <a:endParaRPr sz="1500" b="0" i="0" u="none" dirty="0">
              <a:solidFill>
                <a:srgbClr val="1E293B"/>
              </a:solidFill>
              <a:latin typeface="Noto Sans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7034" y="3995737"/>
            <a:ext cx="429852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1E293B"/>
                </a:solidFill>
                <a:latin typeface="Noto Sans TC"/>
              </a:rPr>
              <a:t>步驟</a:t>
            </a:r>
            <a:r>
              <a:rPr sz="1500" b="1" i="0" u="none" dirty="0">
                <a:solidFill>
                  <a:srgbClr val="1E293B"/>
                </a:solidFill>
                <a:latin typeface="Noto Sans TC"/>
              </a:rPr>
              <a:t> C </a:t>
            </a:r>
            <a:r>
              <a:rPr sz="1500" b="1" i="0" u="none" dirty="0" err="1">
                <a:solidFill>
                  <a:srgbClr val="1E293B"/>
                </a:solidFill>
                <a:latin typeface="Noto Sans TC"/>
              </a:rPr>
              <a:t>選填錯誤：</a:t>
            </a:r>
            <a:r>
              <a:rPr sz="1500" b="0" i="0" u="none" dirty="0" err="1">
                <a:solidFill>
                  <a:srgbClr val="1E293B"/>
                </a:solidFill>
                <a:latin typeface="Noto Sans TC"/>
              </a:rPr>
              <a:t>貼上</a:t>
            </a:r>
            <a:r>
              <a:rPr sz="1500" b="0" i="0" u="none" dirty="0">
                <a:solidFill>
                  <a:srgbClr val="1E293B"/>
                </a:solidFill>
                <a:latin typeface="Noto Sans TC"/>
              </a:rPr>
              <a:t> Traceback </a:t>
            </a:r>
            <a:r>
              <a:rPr sz="1500" b="0" i="0" u="none" dirty="0" err="1">
                <a:solidFill>
                  <a:srgbClr val="1E293B"/>
                </a:solidFill>
                <a:latin typeface="Noto Sans TC"/>
              </a:rPr>
              <a:t>供更正功能診斷</a:t>
            </a:r>
            <a:endParaRPr sz="1500" b="0" i="0" u="none" dirty="0">
              <a:solidFill>
                <a:srgbClr val="1E293B"/>
              </a:solidFill>
              <a:latin typeface="Noto Sans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17034" y="4700587"/>
            <a:ext cx="414938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D9488"/>
                </a:solidFill>
                <a:latin typeface="Noto Sans TC"/>
              </a:rPr>
              <a:t>步驟</a:t>
            </a:r>
            <a:r>
              <a:rPr sz="1500" b="1" i="0" u="none" dirty="0">
                <a:solidFill>
                  <a:srgbClr val="0D9488"/>
                </a:solidFill>
                <a:latin typeface="Noto Sans TC"/>
              </a:rPr>
              <a:t> D </a:t>
            </a:r>
            <a:r>
              <a:rPr sz="1500" b="1" i="0" u="none" dirty="0" err="1">
                <a:solidFill>
                  <a:srgbClr val="0D9488"/>
                </a:solidFill>
                <a:latin typeface="Noto Sans TC"/>
              </a:rPr>
              <a:t>觸發助教：</a:t>
            </a:r>
            <a:r>
              <a:rPr sz="1500" b="0" i="0" u="none" dirty="0" err="1">
                <a:solidFill>
                  <a:srgbClr val="0D9488"/>
                </a:solidFill>
                <a:latin typeface="Noto Sans TC"/>
              </a:rPr>
              <a:t>點擊三大按鈕於右側顯示解析</a:t>
            </a:r>
            <a:endParaRPr sz="1500" b="0" i="0" u="none" dirty="0">
              <a:solidFill>
                <a:srgbClr val="0D9488"/>
              </a:solidFill>
              <a:latin typeface="Noto Sans TC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67FEB87-6B0F-4AA8-A48C-AA003A558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0" y="2123272"/>
            <a:ext cx="7462610" cy="37449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2390775"/>
            <a:ext cx="6096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45606" y="2695575"/>
            <a:ext cx="6300787" cy="723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Noto Sans TC"/>
              </a:rPr>
              <a:t>感謝聆聽・敬請指教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9842" y="3609975"/>
            <a:ext cx="643216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Noto Sans TC"/>
              </a:rPr>
              <a:t>程式設計教育輔助系統 — 系統雛形已具備完整展示能力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3624" y="4238625"/>
            <a:ext cx="688460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97316"/>
                </a:solidFill>
                <a:latin typeface="Noto Sans TC"/>
              </a:rPr>
              <a:t>組員：CBE112002 鄭詠連 ｜ CBE112024 沈光儒 ｜ CBE112041 王瑞德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996</Words>
  <Application>Microsoft Office PowerPoint</Application>
  <PresentationFormat>寬螢幕</PresentationFormat>
  <Paragraphs>161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Calibri</vt:lpstr>
      <vt:lpstr>Consolas</vt:lpstr>
      <vt:lpstr>Noto Sans TC</vt:lpstr>
      <vt:lpstr>Wingdings</vt:lpstr>
      <vt:lpstr>JetBrains Mono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user</dc:creator>
  <cp:keywords/>
  <dc:description>generated using python-pptx</dc:description>
  <cp:lastModifiedBy>光儒 沈</cp:lastModifiedBy>
  <cp:revision>4</cp:revision>
  <dcterms:created xsi:type="dcterms:W3CDTF">2013-01-27T09:14:16Z</dcterms:created>
  <dcterms:modified xsi:type="dcterms:W3CDTF">2026-10-20T16:18:07Z</dcterms:modified>
  <cp:category/>
</cp:coreProperties>
</file>